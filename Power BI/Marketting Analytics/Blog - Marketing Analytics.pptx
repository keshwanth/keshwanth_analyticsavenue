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256" r:id="rId2"/>
    <p:sldId id="257" r:id="rId3"/>
    <p:sldId id="258" r:id="rId4"/>
    <p:sldId id="259" r:id="rId5"/>
    <p:sldId id="260" r:id="rId6"/>
    <p:sldId id="263" r:id="rId7"/>
    <p:sldId id="264" r:id="rId8"/>
    <p:sldId id="265" r:id="rId9"/>
    <p:sldId id="266" r:id="rId10"/>
    <p:sldId id="267" r:id="rId11"/>
    <p:sldId id="269" r:id="rId12"/>
    <p:sldId id="270" r:id="rId13"/>
    <p:sldId id="272" r:id="rId14"/>
    <p:sldId id="273" r:id="rId15"/>
    <p:sldId id="274" r:id="rId16"/>
    <p:sldId id="275" r:id="rId17"/>
    <p:sldId id="276"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0" d="100"/>
          <a:sy n="100" d="100"/>
        </p:scale>
        <p:origin x="420" y="1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6985D3-3C03-4266-B227-F4ED52266769}" type="datetimeFigureOut">
              <a:rPr lang="en-IN" smtClean="0"/>
              <a:t>09-12-2025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03C3F4-7510-4361-A4A7-130F7E9F341A}" type="slidenum">
              <a:rPr lang="en-IN" smtClean="0"/>
              <a:t>‹#›</a:t>
            </a:fld>
            <a:endParaRPr lang="en-IN"/>
          </a:p>
        </p:txBody>
      </p:sp>
    </p:spTree>
    <p:extLst>
      <p:ext uri="{BB962C8B-B14F-4D97-AF65-F5344CB8AC3E}">
        <p14:creationId xmlns:p14="http://schemas.microsoft.com/office/powerpoint/2010/main" val="14667331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E03C3F4-7510-4361-A4A7-130F7E9F341A}" type="slidenum">
              <a:rPr lang="en-IN" smtClean="0"/>
              <a:t>8</a:t>
            </a:fld>
            <a:endParaRPr lang="en-IN"/>
          </a:p>
        </p:txBody>
      </p:sp>
    </p:spTree>
    <p:extLst>
      <p:ext uri="{BB962C8B-B14F-4D97-AF65-F5344CB8AC3E}">
        <p14:creationId xmlns:p14="http://schemas.microsoft.com/office/powerpoint/2010/main" val="9990238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E03C3F4-7510-4361-A4A7-130F7E9F341A}" type="slidenum">
              <a:rPr lang="en-IN" smtClean="0"/>
              <a:t>17</a:t>
            </a:fld>
            <a:endParaRPr lang="en-IN"/>
          </a:p>
        </p:txBody>
      </p:sp>
    </p:spTree>
    <p:extLst>
      <p:ext uri="{BB962C8B-B14F-4D97-AF65-F5344CB8AC3E}">
        <p14:creationId xmlns:p14="http://schemas.microsoft.com/office/powerpoint/2010/main" val="38927750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65759" y="2166364"/>
            <a:ext cx="11471565" cy="1739347"/>
          </a:xfrm>
        </p:spPr>
        <p:txBody>
          <a:bodyPr tIns="45720" bIns="45720" anchor="ctr">
            <a:normAutofit/>
          </a:bodyPr>
          <a:lstStyle>
            <a:lvl1pPr algn="ctr">
              <a:lnSpc>
                <a:spcPct val="80000"/>
              </a:lnSpc>
              <a:defRPr sz="6000" spc="150" baseline="0"/>
            </a:lvl1pPr>
          </a:lstStyle>
          <a:p>
            <a:r>
              <a:rPr lang="en-US"/>
              <a:t>Click to edit Master title style</a:t>
            </a:r>
            <a:endParaRPr lang="en-US" dirty="0"/>
          </a:p>
        </p:txBody>
      </p:sp>
      <p:sp>
        <p:nvSpPr>
          <p:cNvPr id="3" name="Subtitle 2"/>
          <p:cNvSpPr>
            <a:spLocks noGrp="1"/>
          </p:cNvSpPr>
          <p:nvPr>
            <p:ph type="subTitle" idx="1"/>
          </p:nvPr>
        </p:nvSpPr>
        <p:spPr>
          <a:xfrm>
            <a:off x="1524000" y="3996250"/>
            <a:ext cx="9144000" cy="1309255"/>
          </a:xfrm>
        </p:spPr>
        <p:txBody>
          <a:bodyPr>
            <a:normAutofit/>
          </a:bodyPr>
          <a:lstStyle>
            <a:lvl1pPr marL="0" indent="0" algn="ctr">
              <a:buNone/>
              <a:defRPr sz="2000"/>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2EA8AF2-F0C5-4838-8BF8-D0B3463ABE33}" type="datetimeFigureOut">
              <a:rPr lang="en-IN" smtClean="0"/>
              <a:t>09-12-2025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BACAA2-A034-4AB2-8D84-2CB89E6819EB}" type="slidenum">
              <a:rPr lang="en-IN" smtClean="0"/>
              <a:t>‹#›</a:t>
            </a:fld>
            <a:endParaRPr lang="en-IN"/>
          </a:p>
        </p:txBody>
      </p:sp>
    </p:spTree>
    <p:extLst>
      <p:ext uri="{BB962C8B-B14F-4D97-AF65-F5344CB8AC3E}">
        <p14:creationId xmlns:p14="http://schemas.microsoft.com/office/powerpoint/2010/main" val="35299395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EA8AF2-F0C5-4838-8BF8-D0B3463ABE33}" type="datetimeFigureOut">
              <a:rPr lang="en-IN" smtClean="0"/>
              <a:t>09-12-2025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BACAA2-A034-4AB2-8D84-2CB89E6819EB}" type="slidenum">
              <a:rPr lang="en-IN" smtClean="0"/>
              <a:t>‹#›</a:t>
            </a:fld>
            <a:endParaRPr lang="en-IN"/>
          </a:p>
        </p:txBody>
      </p:sp>
    </p:spTree>
    <p:extLst>
      <p:ext uri="{BB962C8B-B14F-4D97-AF65-F5344CB8AC3E}">
        <p14:creationId xmlns:p14="http://schemas.microsoft.com/office/powerpoint/2010/main" val="15620483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191" y="2208879"/>
            <a:ext cx="10515600" cy="1676400"/>
          </a:xfrm>
        </p:spPr>
        <p:txBody>
          <a:bodyPr anchor="ctr">
            <a:noAutofit/>
          </a:bodyPr>
          <a:lstStyle>
            <a:lvl1pPr algn="ctr">
              <a:lnSpc>
                <a:spcPct val="80000"/>
              </a:lnSpc>
              <a:defRPr sz="6000" b="0" spc="150" baseline="0">
                <a:solidFill>
                  <a:schemeClr val="bg1"/>
                </a:solidFill>
              </a:defRPr>
            </a:lvl1pPr>
          </a:lstStyle>
          <a:p>
            <a:r>
              <a:rPr lang="en-US"/>
              <a:t>Click to edit Master title style</a:t>
            </a:r>
            <a:endParaRPr lang="en-US" dirty="0"/>
          </a:p>
        </p:txBody>
      </p:sp>
      <p:sp>
        <p:nvSpPr>
          <p:cNvPr id="3" name="Text Placeholder 2"/>
          <p:cNvSpPr>
            <a:spLocks noGrp="1"/>
          </p:cNvSpPr>
          <p:nvPr>
            <p:ph type="body" idx="1"/>
          </p:nvPr>
        </p:nvSpPr>
        <p:spPr>
          <a:xfrm>
            <a:off x="833191" y="4010334"/>
            <a:ext cx="10515600" cy="1174639"/>
          </a:xfrm>
        </p:spPr>
        <p:txBody>
          <a:bodyPr anchor="t">
            <a:normAutofit/>
          </a:bodyPr>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tx2"/>
                </a:solidFill>
              </a:defRPr>
            </a:lvl1pPr>
          </a:lstStyle>
          <a:p>
            <a:fld id="{42EA8AF2-F0C5-4838-8BF8-D0B3463ABE33}" type="datetimeFigureOut">
              <a:rPr lang="en-IN" smtClean="0"/>
              <a:t>09-12-2025</a:t>
            </a:fld>
            <a:endParaRPr lang="en-IN"/>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F0BACAA2-A034-4AB2-8D84-2CB89E6819EB}" type="slidenum">
              <a:rPr lang="en-IN" smtClean="0"/>
              <a:t>‹#›</a:t>
            </a:fld>
            <a:endParaRPr lang="en-IN"/>
          </a:p>
        </p:txBody>
      </p:sp>
    </p:spTree>
    <p:extLst>
      <p:ext uri="{BB962C8B-B14F-4D97-AF65-F5344CB8AC3E}">
        <p14:creationId xmlns:p14="http://schemas.microsoft.com/office/powerpoint/2010/main" val="4077266792"/>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05344"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30391"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2EA8AF2-F0C5-4838-8BF8-D0B3463ABE33}" type="datetimeFigureOut">
              <a:rPr lang="en-IN" smtClean="0"/>
              <a:t>09-12-2025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0BACAA2-A034-4AB2-8D84-2CB89E6819EB}" type="slidenum">
              <a:rPr lang="en-IN" smtClean="0"/>
              <a:t>‹#›</a:t>
            </a:fld>
            <a:endParaRPr lang="en-IN"/>
          </a:p>
        </p:txBody>
      </p:sp>
    </p:spTree>
    <p:extLst>
      <p:ext uri="{BB962C8B-B14F-4D97-AF65-F5344CB8AC3E}">
        <p14:creationId xmlns:p14="http://schemas.microsoft.com/office/powerpoint/2010/main" val="35882362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07008"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07008" y="2656566"/>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31230"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31230" y="2656564"/>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2EA8AF2-F0C5-4838-8BF8-D0B3463ABE33}" type="datetimeFigureOut">
              <a:rPr lang="en-IN" smtClean="0"/>
              <a:t>09-12-2025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0BACAA2-A034-4AB2-8D84-2CB89E6819EB}" type="slidenum">
              <a:rPr lang="en-IN" smtClean="0"/>
              <a:t>‹#›</a:t>
            </a:fld>
            <a:endParaRPr lang="en-IN"/>
          </a:p>
        </p:txBody>
      </p:sp>
    </p:spTree>
    <p:extLst>
      <p:ext uri="{BB962C8B-B14F-4D97-AF65-F5344CB8AC3E}">
        <p14:creationId xmlns:p14="http://schemas.microsoft.com/office/powerpoint/2010/main" val="16507940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2EA8AF2-F0C5-4838-8BF8-D0B3463ABE33}" type="datetimeFigureOut">
              <a:rPr lang="en-IN" smtClean="0"/>
              <a:t>09-12-2025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0BACAA2-A034-4AB2-8D84-2CB89E6819EB}" type="slidenum">
              <a:rPr lang="en-IN" smtClean="0"/>
              <a:t>‹#›</a:t>
            </a:fld>
            <a:endParaRPr lang="en-IN"/>
          </a:p>
        </p:txBody>
      </p:sp>
    </p:spTree>
    <p:extLst>
      <p:ext uri="{BB962C8B-B14F-4D97-AF65-F5344CB8AC3E}">
        <p14:creationId xmlns:p14="http://schemas.microsoft.com/office/powerpoint/2010/main" val="42776642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EA8AF2-F0C5-4838-8BF8-D0B3463ABE33}" type="datetimeFigureOut">
              <a:rPr lang="en-IN" smtClean="0"/>
              <a:t>09-12-2025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0BACAA2-A034-4AB2-8D84-2CB89E6819EB}" type="slidenum">
              <a:rPr lang="en-IN" smtClean="0"/>
              <a:t>‹#›</a:t>
            </a:fld>
            <a:endParaRPr lang="en-IN"/>
          </a:p>
        </p:txBody>
      </p:sp>
    </p:spTree>
    <p:extLst>
      <p:ext uri="{BB962C8B-B14F-4D97-AF65-F5344CB8AC3E}">
        <p14:creationId xmlns:p14="http://schemas.microsoft.com/office/powerpoint/2010/main" val="33245963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207008" y="2120054"/>
            <a:ext cx="6126480" cy="4114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789023" y="2147486"/>
            <a:ext cx="3200400" cy="3432319"/>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2EA8AF2-F0C5-4838-8BF8-D0B3463ABE33}" type="datetimeFigureOut">
              <a:rPr lang="en-IN" smtClean="0"/>
              <a:t>09-12-2025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0BACAA2-A034-4AB2-8D84-2CB89E6819EB}" type="slidenum">
              <a:rPr lang="en-IN" smtClean="0"/>
              <a:t>‹#›</a:t>
            </a:fld>
            <a:endParaRPr lang="en-IN"/>
          </a:p>
        </p:txBody>
      </p:sp>
    </p:spTree>
    <p:extLst>
      <p:ext uri="{BB962C8B-B14F-4D97-AF65-F5344CB8AC3E}">
        <p14:creationId xmlns:p14="http://schemas.microsoft.com/office/powerpoint/2010/main" val="42302532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Picture Placeholder 2"/>
          <p:cNvSpPr>
            <a:spLocks noGrp="1" noChangeAspect="1"/>
          </p:cNvSpPr>
          <p:nvPr>
            <p:ph type="pic" idx="1"/>
          </p:nvPr>
        </p:nvSpPr>
        <p:spPr>
          <a:xfrm>
            <a:off x="1280160" y="2211494"/>
            <a:ext cx="6126480" cy="3931920"/>
          </a:xfrm>
          <a:solidFill>
            <a:schemeClr val="tx2">
              <a:lumMod val="60000"/>
              <a:lumOff val="40000"/>
            </a:schemeClr>
          </a:solidFill>
        </p:spPr>
        <p:txBody>
          <a:bodyPr tIns="365760" anchor="t"/>
          <a:lstStyle>
            <a:lvl1pPr marL="0" indent="0" algn="ctr">
              <a:buNone/>
              <a:defRPr sz="3200">
                <a:solidFill>
                  <a:schemeClr val="tx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790688" y="2150621"/>
            <a:ext cx="3200400" cy="3429000"/>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2EA8AF2-F0C5-4838-8BF8-D0B3463ABE33}" type="datetimeFigureOut">
              <a:rPr lang="en-IN" smtClean="0"/>
              <a:t>09-12-2025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0BACAA2-A034-4AB2-8D84-2CB89E6819EB}" type="slidenum">
              <a:rPr lang="en-IN" smtClean="0"/>
              <a:t>‹#›</a:t>
            </a:fld>
            <a:endParaRPr lang="en-IN"/>
          </a:p>
        </p:txBody>
      </p:sp>
    </p:spTree>
    <p:extLst>
      <p:ext uri="{BB962C8B-B14F-4D97-AF65-F5344CB8AC3E}">
        <p14:creationId xmlns:p14="http://schemas.microsoft.com/office/powerpoint/2010/main" val="35631178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EA8AF2-F0C5-4838-8BF8-D0B3463ABE33}" type="datetimeFigureOut">
              <a:rPr lang="en-IN" smtClean="0"/>
              <a:t>09-12-2025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BACAA2-A034-4AB2-8D84-2CB89E6819EB}" type="slidenum">
              <a:rPr lang="en-IN" smtClean="0"/>
              <a:t>‹#›</a:t>
            </a:fld>
            <a:endParaRPr lang="en-IN"/>
          </a:p>
        </p:txBody>
      </p:sp>
    </p:spTree>
    <p:extLst>
      <p:ext uri="{BB962C8B-B14F-4D97-AF65-F5344CB8AC3E}">
        <p14:creationId xmlns:p14="http://schemas.microsoft.com/office/powerpoint/2010/main" val="1721479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9019312" y="0"/>
            <a:ext cx="274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9160624" y="274638"/>
            <a:ext cx="240238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274638"/>
            <a:ext cx="7973291"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422854"/>
            <a:ext cx="2743196" cy="365125"/>
          </a:xfrm>
        </p:spPr>
        <p:txBody>
          <a:bodyPr/>
          <a:lstStyle/>
          <a:p>
            <a:fld id="{42EA8AF2-F0C5-4838-8BF8-D0B3463ABE33}" type="datetimeFigureOut">
              <a:rPr lang="en-IN" smtClean="0"/>
              <a:t>09-12-2025</a:t>
            </a:fld>
            <a:endParaRPr lang="en-IN"/>
          </a:p>
        </p:txBody>
      </p:sp>
      <p:sp>
        <p:nvSpPr>
          <p:cNvPr id="5" name="Footer Placeholder 4"/>
          <p:cNvSpPr>
            <a:spLocks noGrp="1"/>
          </p:cNvSpPr>
          <p:nvPr>
            <p:ph type="ftr" sz="quarter" idx="11"/>
          </p:nvPr>
        </p:nvSpPr>
        <p:spPr>
          <a:xfrm>
            <a:off x="3776135" y="6422854"/>
            <a:ext cx="4279669" cy="365125"/>
          </a:xfrm>
        </p:spPr>
        <p:txBody>
          <a:bodyPr/>
          <a:lstStyle/>
          <a:p>
            <a:endParaRPr lang="en-IN"/>
          </a:p>
        </p:txBody>
      </p:sp>
      <p:sp>
        <p:nvSpPr>
          <p:cNvPr id="6" name="Slide Number Placeholder 5"/>
          <p:cNvSpPr>
            <a:spLocks noGrp="1"/>
          </p:cNvSpPr>
          <p:nvPr>
            <p:ph type="sldNum" sz="quarter" idx="12"/>
          </p:nvPr>
        </p:nvSpPr>
        <p:spPr>
          <a:xfrm>
            <a:off x="8073048" y="6422854"/>
            <a:ext cx="879759" cy="365125"/>
          </a:xfrm>
        </p:spPr>
        <p:txBody>
          <a:bodyPr/>
          <a:lstStyle/>
          <a:p>
            <a:fld id="{F0BACAA2-A034-4AB2-8D84-2CB89E6819EB}" type="slidenum">
              <a:rPr lang="en-IN" smtClean="0"/>
              <a:t>‹#›</a:t>
            </a:fld>
            <a:endParaRPr lang="en-IN"/>
          </a:p>
        </p:txBody>
      </p:sp>
    </p:spTree>
    <p:extLst>
      <p:ext uri="{BB962C8B-B14F-4D97-AF65-F5344CB8AC3E}">
        <p14:creationId xmlns:p14="http://schemas.microsoft.com/office/powerpoint/2010/main" val="3065269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483" y="176109"/>
            <a:ext cx="12188952" cy="16459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02919" y="284176"/>
            <a:ext cx="9784080" cy="15087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02919" y="2011680"/>
            <a:ext cx="9784080" cy="42062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02266" y="6422854"/>
            <a:ext cx="3000894" cy="365125"/>
          </a:xfrm>
          <a:prstGeom prst="rect">
            <a:avLst/>
          </a:prstGeom>
        </p:spPr>
        <p:txBody>
          <a:bodyPr vert="horz" lIns="91440" tIns="45720" rIns="45720" bIns="45720" rtlCol="0" anchor="ctr"/>
          <a:lstStyle>
            <a:lvl1pPr algn="l">
              <a:defRPr sz="1050">
                <a:solidFill>
                  <a:schemeClr val="tx1"/>
                </a:solidFill>
              </a:defRPr>
            </a:lvl1pPr>
          </a:lstStyle>
          <a:p>
            <a:fld id="{42EA8AF2-F0C5-4838-8BF8-D0B3463ABE33}" type="datetimeFigureOut">
              <a:rPr lang="en-IN" smtClean="0"/>
              <a:t>09-12-2025</a:t>
            </a:fld>
            <a:endParaRPr lang="en-IN"/>
          </a:p>
        </p:txBody>
      </p:sp>
      <p:sp>
        <p:nvSpPr>
          <p:cNvPr id="5" name="Footer Placeholder 4"/>
          <p:cNvSpPr>
            <a:spLocks noGrp="1"/>
          </p:cNvSpPr>
          <p:nvPr>
            <p:ph type="ftr" sz="quarter" idx="3"/>
          </p:nvPr>
        </p:nvSpPr>
        <p:spPr>
          <a:xfrm>
            <a:off x="5596471" y="6422854"/>
            <a:ext cx="5044440" cy="365125"/>
          </a:xfrm>
          <a:prstGeom prst="rect">
            <a:avLst/>
          </a:prstGeom>
        </p:spPr>
        <p:txBody>
          <a:bodyPr vert="horz" lIns="91440" tIns="45720" rIns="91440" bIns="45720" rtlCol="0" anchor="ctr"/>
          <a:lstStyle>
            <a:lvl1pPr algn="r">
              <a:defRPr sz="1050">
                <a:solidFill>
                  <a:schemeClr val="tx1"/>
                </a:solidFill>
              </a:defRPr>
            </a:lvl1pPr>
          </a:lstStyle>
          <a:p>
            <a:endParaRPr lang="en-IN"/>
          </a:p>
        </p:txBody>
      </p:sp>
      <p:sp>
        <p:nvSpPr>
          <p:cNvPr id="6" name="Slide Number Placeholder 5"/>
          <p:cNvSpPr>
            <a:spLocks noGrp="1"/>
          </p:cNvSpPr>
          <p:nvPr>
            <p:ph type="sldNum" sz="quarter" idx="4"/>
          </p:nvPr>
        </p:nvSpPr>
        <p:spPr>
          <a:xfrm>
            <a:off x="10658927" y="6422854"/>
            <a:ext cx="946264" cy="365125"/>
          </a:xfrm>
          <a:prstGeom prst="rect">
            <a:avLst/>
          </a:prstGeom>
        </p:spPr>
        <p:txBody>
          <a:bodyPr vert="horz" lIns="45720" tIns="45720" rIns="91440" bIns="45720" rtlCol="0" anchor="ctr"/>
          <a:lstStyle>
            <a:lvl1pPr algn="l">
              <a:defRPr sz="1200" b="0">
                <a:solidFill>
                  <a:schemeClr val="tx1"/>
                </a:solidFill>
              </a:defRPr>
            </a:lvl1pPr>
          </a:lstStyle>
          <a:p>
            <a:fld id="{F0BACAA2-A034-4AB2-8D84-2CB89E6819EB}" type="slidenum">
              <a:rPr lang="en-IN" smtClean="0"/>
              <a:t>‹#›</a:t>
            </a:fld>
            <a:endParaRPr lang="en-IN"/>
          </a:p>
        </p:txBody>
      </p:sp>
    </p:spTree>
    <p:extLst>
      <p:ext uri="{BB962C8B-B14F-4D97-AF65-F5344CB8AC3E}">
        <p14:creationId xmlns:p14="http://schemas.microsoft.com/office/powerpoint/2010/main" val="326670035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p:titleStyle>
    <p:body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sz="2200" kern="1200">
          <a:solidFill>
            <a:schemeClr val="tx1"/>
          </a:solidFill>
          <a:latin typeface="+mn-lt"/>
          <a:ea typeface="+mn-ea"/>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sz="2000" kern="1200">
          <a:solidFill>
            <a:schemeClr val="tx1"/>
          </a:solidFill>
          <a:latin typeface="+mn-lt"/>
          <a:ea typeface="+mn-ea"/>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sz="1800" kern="1200">
          <a:solidFill>
            <a:schemeClr val="tx1"/>
          </a:solidFill>
          <a:latin typeface="+mn-lt"/>
          <a:ea typeface="+mn-ea"/>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D6919-F7CD-86AD-6F1A-5927D7E88AA1}"/>
              </a:ext>
            </a:extLst>
          </p:cNvPr>
          <p:cNvSpPr>
            <a:spLocks noGrp="1"/>
          </p:cNvSpPr>
          <p:nvPr>
            <p:ph type="ctrTitle"/>
          </p:nvPr>
        </p:nvSpPr>
        <p:spPr/>
        <p:txBody>
          <a:bodyPr/>
          <a:lstStyle/>
          <a:p>
            <a:r>
              <a:rPr lang="en-IN" b="1" dirty="0"/>
              <a:t>Marketing Analytics: </a:t>
            </a:r>
            <a:br>
              <a:rPr lang="en-IN" b="1" dirty="0"/>
            </a:br>
            <a:r>
              <a:rPr lang="en-IN" b="1" dirty="0"/>
              <a:t>A Power BI Case Study</a:t>
            </a:r>
          </a:p>
        </p:txBody>
      </p:sp>
      <p:sp>
        <p:nvSpPr>
          <p:cNvPr id="5" name="Subtitle 4">
            <a:extLst>
              <a:ext uri="{FF2B5EF4-FFF2-40B4-BE49-F238E27FC236}">
                <a16:creationId xmlns:a16="http://schemas.microsoft.com/office/drawing/2014/main" id="{71176D92-7652-2D84-1720-5B3EEC466898}"/>
              </a:ext>
            </a:extLst>
          </p:cNvPr>
          <p:cNvSpPr>
            <a:spLocks noGrp="1"/>
          </p:cNvSpPr>
          <p:nvPr>
            <p:ph type="subTitle" idx="1"/>
          </p:nvPr>
        </p:nvSpPr>
        <p:spPr/>
        <p:txBody>
          <a:bodyPr/>
          <a:lstStyle/>
          <a:p>
            <a:r>
              <a:rPr lang="en-IN" dirty="0"/>
              <a:t>By</a:t>
            </a:r>
          </a:p>
          <a:p>
            <a:r>
              <a:rPr lang="en-IN" dirty="0"/>
              <a:t>Keshwanth GP</a:t>
            </a:r>
          </a:p>
        </p:txBody>
      </p:sp>
    </p:spTree>
    <p:extLst>
      <p:ext uri="{BB962C8B-B14F-4D97-AF65-F5344CB8AC3E}">
        <p14:creationId xmlns:p14="http://schemas.microsoft.com/office/powerpoint/2010/main" val="34957432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45FCB-D625-8E0A-D374-779A78FC68D9}"/>
              </a:ext>
            </a:extLst>
          </p:cNvPr>
          <p:cNvSpPr>
            <a:spLocks noGrp="1"/>
          </p:cNvSpPr>
          <p:nvPr>
            <p:ph type="title"/>
          </p:nvPr>
        </p:nvSpPr>
        <p:spPr>
          <a:xfrm>
            <a:off x="838200" y="417544"/>
            <a:ext cx="10515600" cy="1209675"/>
          </a:xfrm>
        </p:spPr>
        <p:txBody>
          <a:bodyPr>
            <a:normAutofit/>
          </a:bodyPr>
          <a:lstStyle/>
          <a:p>
            <a:pPr algn="ctr"/>
            <a:r>
              <a:rPr lang="en-IN" b="1" dirty="0"/>
              <a:t>Introduction: What is Marketing Analytics?</a:t>
            </a:r>
            <a:endParaRPr lang="en-IN" dirty="0"/>
          </a:p>
        </p:txBody>
      </p:sp>
      <p:sp>
        <p:nvSpPr>
          <p:cNvPr id="3" name="Content Placeholder 2">
            <a:extLst>
              <a:ext uri="{FF2B5EF4-FFF2-40B4-BE49-F238E27FC236}">
                <a16:creationId xmlns:a16="http://schemas.microsoft.com/office/drawing/2014/main" id="{429C28FF-F822-3097-D915-5C053D89CC9B}"/>
              </a:ext>
            </a:extLst>
          </p:cNvPr>
          <p:cNvSpPr>
            <a:spLocks noGrp="1"/>
          </p:cNvSpPr>
          <p:nvPr>
            <p:ph idx="1"/>
          </p:nvPr>
        </p:nvSpPr>
        <p:spPr>
          <a:xfrm>
            <a:off x="838200" y="1900185"/>
            <a:ext cx="10515600" cy="4439246"/>
          </a:xfrm>
        </p:spPr>
        <p:txBody>
          <a:bodyPr>
            <a:normAutofit/>
          </a:bodyPr>
          <a:lstStyle/>
          <a:p>
            <a:pPr marL="0" indent="0" algn="just">
              <a:buNone/>
            </a:pPr>
            <a:r>
              <a:rPr lang="en-IN" dirty="0"/>
              <a:t>	Marketing analytics is how brands use data from every ad impression, click, and conversion to understand what is working and what is not. When an ad runs on Instagram, YouTube, or Google, platforms record how many people saw it (reach), how many clicked (CTR), what each click cost (CPC), and how many finally became customers (CAC or cost per acquisition). Instead of guessing, marketers use these metrics to refine targeting, creatives, and budgets so they can spend less and earn more.</a:t>
            </a:r>
          </a:p>
          <a:p>
            <a:pPr marL="0" indent="0" algn="just">
              <a:buNone/>
            </a:pPr>
            <a:r>
              <a:rPr lang="en-IN" dirty="0"/>
              <a:t>	In this project, a Power BI dashboard was built to analyse performance of digital campaigns promoting analytics programs such as SQL Skills Training, Python for Beginners, and AI &amp; ML Foundations. The objective was to turn raw ad-level data into clear insights on which campaigns, audiences, and cities drive the most conversions at the best cost.</a:t>
            </a:r>
          </a:p>
        </p:txBody>
      </p:sp>
    </p:spTree>
    <p:extLst>
      <p:ext uri="{BB962C8B-B14F-4D97-AF65-F5344CB8AC3E}">
        <p14:creationId xmlns:p14="http://schemas.microsoft.com/office/powerpoint/2010/main" val="12432215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A8680-EAB9-6278-DD36-49D766DFD636}"/>
              </a:ext>
            </a:extLst>
          </p:cNvPr>
          <p:cNvSpPr>
            <a:spLocks noGrp="1"/>
          </p:cNvSpPr>
          <p:nvPr>
            <p:ph type="title"/>
          </p:nvPr>
        </p:nvSpPr>
        <p:spPr>
          <a:xfrm>
            <a:off x="838200" y="430628"/>
            <a:ext cx="10515600" cy="1325563"/>
          </a:xfrm>
        </p:spPr>
        <p:txBody>
          <a:bodyPr/>
          <a:lstStyle/>
          <a:p>
            <a:pPr algn="ctr"/>
            <a:r>
              <a:rPr lang="en-IN" b="1" dirty="0"/>
              <a:t>How Modern Marketing Analytics Works</a:t>
            </a:r>
          </a:p>
        </p:txBody>
      </p:sp>
      <p:sp>
        <p:nvSpPr>
          <p:cNvPr id="3" name="Content Placeholder 2">
            <a:extLst>
              <a:ext uri="{FF2B5EF4-FFF2-40B4-BE49-F238E27FC236}">
                <a16:creationId xmlns:a16="http://schemas.microsoft.com/office/drawing/2014/main" id="{C94EA9E9-8B13-CB60-A186-2BC710A318A5}"/>
              </a:ext>
            </a:extLst>
          </p:cNvPr>
          <p:cNvSpPr>
            <a:spLocks noGrp="1"/>
          </p:cNvSpPr>
          <p:nvPr>
            <p:ph idx="1"/>
          </p:nvPr>
        </p:nvSpPr>
        <p:spPr>
          <a:xfrm>
            <a:off x="740010" y="1877895"/>
            <a:ext cx="10515600" cy="4980105"/>
          </a:xfrm>
        </p:spPr>
        <p:txBody>
          <a:bodyPr>
            <a:noAutofit/>
          </a:bodyPr>
          <a:lstStyle/>
          <a:p>
            <a:pPr marL="0" indent="0" algn="just">
              <a:buNone/>
            </a:pPr>
            <a:r>
              <a:rPr lang="en-US" dirty="0"/>
              <a:t>Modern marketing analytics runs on a cloud-based stack: Data Sources → Storage → Processing &amp; Modeling → Dashboards &amp; Alerts.</a:t>
            </a:r>
          </a:p>
          <a:p>
            <a:pPr marL="0" indent="0" algn="just">
              <a:buNone/>
            </a:pPr>
            <a:r>
              <a:rPr lang="en-US" dirty="0"/>
              <a:t>Five Key Benefits:</a:t>
            </a:r>
          </a:p>
          <a:p>
            <a:pPr lvl="1" algn="just"/>
            <a:r>
              <a:rPr lang="en-US" dirty="0"/>
              <a:t>Enhanced Customer Insights – Discover hidden patterns in behavior data for personalized marketing</a:t>
            </a:r>
          </a:p>
          <a:p>
            <a:pPr lvl="1" algn="just"/>
            <a:r>
              <a:rPr lang="en-US" dirty="0"/>
              <a:t>Real-Time Optimization – Adjust bids, creatives, and audiences while campaigns run</a:t>
            </a:r>
          </a:p>
          <a:p>
            <a:pPr lvl="1" algn="just"/>
            <a:r>
              <a:rPr lang="en-US" dirty="0"/>
              <a:t>Smarter Budget Allocation – Identify high-performing channels and segments instantly</a:t>
            </a:r>
          </a:p>
          <a:p>
            <a:pPr lvl="1" algn="just"/>
            <a:r>
              <a:rPr lang="en-US" dirty="0"/>
              <a:t>Predictive Analytics – Forecast trends and strategy outcomes proactively</a:t>
            </a:r>
          </a:p>
          <a:p>
            <a:pPr lvl="1" algn="just"/>
            <a:r>
              <a:rPr lang="en-US" dirty="0"/>
              <a:t>Improved ROI via Automation – Automate monitoring and optimization tasks</a:t>
            </a:r>
          </a:p>
          <a:p>
            <a:pPr algn="just"/>
            <a:r>
              <a:rPr lang="en-US" dirty="0"/>
              <a:t>Why it works:</a:t>
            </a:r>
          </a:p>
          <a:p>
            <a:pPr lvl="1" algn="just"/>
            <a:r>
              <a:rPr lang="en-US" dirty="0"/>
              <a:t>Eliminates guesswork from marketing decisions</a:t>
            </a:r>
          </a:p>
          <a:p>
            <a:pPr lvl="1" algn="just"/>
            <a:r>
              <a:rPr lang="en-US" dirty="0"/>
              <a:t>Enables rapid response to performance changes</a:t>
            </a:r>
          </a:p>
          <a:p>
            <a:pPr lvl="1" algn="just"/>
            <a:r>
              <a:rPr lang="en-US" dirty="0"/>
              <a:t>Maximizes spend efficiency across channels</a:t>
            </a:r>
          </a:p>
        </p:txBody>
      </p:sp>
    </p:spTree>
    <p:extLst>
      <p:ext uri="{BB962C8B-B14F-4D97-AF65-F5344CB8AC3E}">
        <p14:creationId xmlns:p14="http://schemas.microsoft.com/office/powerpoint/2010/main" val="27285747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DF433-6A74-ED5D-1B80-A15DA29CDD96}"/>
              </a:ext>
            </a:extLst>
          </p:cNvPr>
          <p:cNvSpPr>
            <a:spLocks noGrp="1"/>
          </p:cNvSpPr>
          <p:nvPr>
            <p:ph type="title"/>
          </p:nvPr>
        </p:nvSpPr>
        <p:spPr>
          <a:xfrm>
            <a:off x="838200" y="510046"/>
            <a:ext cx="10515600" cy="971550"/>
          </a:xfrm>
        </p:spPr>
        <p:txBody>
          <a:bodyPr>
            <a:normAutofit fontScale="90000"/>
          </a:bodyPr>
          <a:lstStyle/>
          <a:p>
            <a:pPr algn="ctr"/>
            <a:r>
              <a:rPr lang="en-IN" b="1" dirty="0"/>
              <a:t>Understanding the Full-Funnel Measurement Framework</a:t>
            </a:r>
            <a:endParaRPr lang="en-IN" dirty="0"/>
          </a:p>
        </p:txBody>
      </p:sp>
      <p:sp>
        <p:nvSpPr>
          <p:cNvPr id="3" name="Content Placeholder 2">
            <a:extLst>
              <a:ext uri="{FF2B5EF4-FFF2-40B4-BE49-F238E27FC236}">
                <a16:creationId xmlns:a16="http://schemas.microsoft.com/office/drawing/2014/main" id="{656E2080-5EAC-129A-66AE-9CED9CBCCC4D}"/>
              </a:ext>
            </a:extLst>
          </p:cNvPr>
          <p:cNvSpPr>
            <a:spLocks noGrp="1"/>
          </p:cNvSpPr>
          <p:nvPr>
            <p:ph idx="1"/>
          </p:nvPr>
        </p:nvSpPr>
        <p:spPr>
          <a:xfrm>
            <a:off x="963494" y="1969949"/>
            <a:ext cx="9880431" cy="4284800"/>
          </a:xfrm>
        </p:spPr>
        <p:txBody>
          <a:bodyPr>
            <a:normAutofit/>
          </a:bodyPr>
          <a:lstStyle/>
          <a:p>
            <a:pPr algn="just"/>
            <a:r>
              <a:rPr lang="en-IN" dirty="0"/>
              <a:t>Marketing success is not measured at a single point but across multiple stages. The full-funnel approach divides the customer journey into three critical phases:</a:t>
            </a:r>
          </a:p>
          <a:p>
            <a:pPr marL="0" indent="0" algn="just">
              <a:buNone/>
            </a:pPr>
            <a:r>
              <a:rPr lang="en-IN" b="1" dirty="0"/>
              <a:t>1. Top-of-Funnel (TOFU)</a:t>
            </a:r>
            <a:endParaRPr lang="en-IN" dirty="0"/>
          </a:p>
          <a:p>
            <a:pPr lvl="1" algn="just"/>
            <a:r>
              <a:rPr lang="en-IN" dirty="0"/>
              <a:t>TOFU metrics focus on brand awareness and initial engagement:</a:t>
            </a:r>
          </a:p>
          <a:p>
            <a:pPr lvl="1" algn="just"/>
            <a:r>
              <a:rPr lang="en-IN" dirty="0"/>
              <a:t>Unique reach: How many distinct people see the ad?</a:t>
            </a:r>
          </a:p>
          <a:p>
            <a:pPr lvl="1" algn="just"/>
            <a:r>
              <a:rPr lang="en-IN" dirty="0"/>
              <a:t>Impressions: Total ad views, regardless of uniqueness.</a:t>
            </a:r>
          </a:p>
          <a:p>
            <a:pPr lvl="1" algn="just"/>
            <a:r>
              <a:rPr lang="en-IN" dirty="0"/>
              <a:t>Completion rate: For video ads, what percentage watch to completion?</a:t>
            </a:r>
          </a:p>
          <a:p>
            <a:pPr lvl="1" algn="just"/>
            <a:r>
              <a:rPr lang="en-IN" dirty="0"/>
              <a:t>Click-Through Rate (CTR): What share of viewers click the ad?</a:t>
            </a:r>
          </a:p>
        </p:txBody>
      </p:sp>
    </p:spTree>
    <p:extLst>
      <p:ext uri="{BB962C8B-B14F-4D97-AF65-F5344CB8AC3E}">
        <p14:creationId xmlns:p14="http://schemas.microsoft.com/office/powerpoint/2010/main" val="31136444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633140-EBBE-B99C-3B6C-DE206F0F52E4}"/>
              </a:ext>
            </a:extLst>
          </p:cNvPr>
          <p:cNvSpPr>
            <a:spLocks noGrp="1"/>
          </p:cNvSpPr>
          <p:nvPr>
            <p:ph idx="4294967295"/>
          </p:nvPr>
        </p:nvSpPr>
        <p:spPr>
          <a:xfrm>
            <a:off x="1159877" y="398463"/>
            <a:ext cx="9739279" cy="6040437"/>
          </a:xfrm>
        </p:spPr>
        <p:txBody>
          <a:bodyPr>
            <a:normAutofit/>
          </a:bodyPr>
          <a:lstStyle/>
          <a:p>
            <a:pPr marL="0" indent="0" algn="just">
              <a:buNone/>
            </a:pPr>
            <a:r>
              <a:rPr lang="en-IN" b="1" dirty="0"/>
              <a:t>2. Middle-of-Funnel (MOFU)</a:t>
            </a:r>
            <a:endParaRPr lang="en-IN" dirty="0"/>
          </a:p>
          <a:p>
            <a:pPr lvl="1" algn="just"/>
            <a:r>
              <a:rPr lang="en-IN" dirty="0"/>
              <a:t>MOFU metrics indicate growing purchase intent:</a:t>
            </a:r>
          </a:p>
          <a:p>
            <a:pPr lvl="1" algn="just"/>
            <a:r>
              <a:rPr lang="en-IN" dirty="0"/>
              <a:t>Detail page views: Are viewers exploring product/service pages?</a:t>
            </a:r>
          </a:p>
          <a:p>
            <a:pPr lvl="1" algn="just"/>
            <a:r>
              <a:rPr lang="en-IN" dirty="0"/>
              <a:t>New-to-brand percentage: What share are first-time visitors?</a:t>
            </a:r>
          </a:p>
          <a:p>
            <a:pPr lvl="1" algn="just"/>
            <a:r>
              <a:rPr lang="en-IN" dirty="0"/>
              <a:t>Branded search index: Are people searching for your brand after seeing ads?</a:t>
            </a:r>
          </a:p>
          <a:p>
            <a:pPr marL="0" indent="0" algn="just">
              <a:buNone/>
            </a:pPr>
            <a:r>
              <a:rPr lang="en-IN" b="1" dirty="0"/>
              <a:t>3. Bottom-of-Funnel (BOFU)</a:t>
            </a:r>
            <a:endParaRPr lang="en-IN" dirty="0"/>
          </a:p>
          <a:p>
            <a:pPr lvl="1" algn="just"/>
            <a:r>
              <a:rPr lang="en-IN" dirty="0"/>
              <a:t>BOFU metrics capture the conversion and profitability stage:</a:t>
            </a:r>
          </a:p>
          <a:p>
            <a:pPr lvl="1" algn="just"/>
            <a:r>
              <a:rPr lang="en-IN" dirty="0"/>
              <a:t>Conversion rate: What share of clickers take the desired action (purchase, sign-up)?</a:t>
            </a:r>
          </a:p>
          <a:p>
            <a:pPr lvl="1" algn="just"/>
            <a:r>
              <a:rPr lang="en-IN" dirty="0"/>
              <a:t>Orders or units sold: Actual business outcome.</a:t>
            </a:r>
          </a:p>
          <a:p>
            <a:pPr lvl="1" algn="just"/>
            <a:r>
              <a:rPr lang="en-IN" dirty="0"/>
              <a:t>Return on Advertising Spend (ROAS): Revenue generated per rupee spent.</a:t>
            </a:r>
          </a:p>
          <a:p>
            <a:pPr lvl="1" algn="just"/>
            <a:r>
              <a:rPr lang="en-IN" dirty="0"/>
              <a:t>Advertising Cost of Sales (ACOS): How much is spent to drive one sale?</a:t>
            </a:r>
          </a:p>
          <a:p>
            <a:pPr lvl="1" algn="just"/>
            <a:r>
              <a:rPr lang="en-IN" dirty="0"/>
              <a:t>Customer Acquisition Cost (CAC): Average cost to acquire one new customer.</a:t>
            </a:r>
          </a:p>
        </p:txBody>
      </p:sp>
    </p:spTree>
    <p:extLst>
      <p:ext uri="{BB962C8B-B14F-4D97-AF65-F5344CB8AC3E}">
        <p14:creationId xmlns:p14="http://schemas.microsoft.com/office/powerpoint/2010/main" val="15612234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1411-2FD7-03DF-70BC-40B200599831}"/>
              </a:ext>
            </a:extLst>
          </p:cNvPr>
          <p:cNvSpPr>
            <a:spLocks noGrp="1"/>
          </p:cNvSpPr>
          <p:nvPr>
            <p:ph type="title"/>
          </p:nvPr>
        </p:nvSpPr>
        <p:spPr/>
        <p:txBody>
          <a:bodyPr/>
          <a:lstStyle/>
          <a:p>
            <a:pPr algn="ctr"/>
            <a:r>
              <a:rPr lang="en-IN" b="1" dirty="0"/>
              <a:t>Dataset Overview</a:t>
            </a:r>
            <a:endParaRPr lang="en-IN" dirty="0"/>
          </a:p>
        </p:txBody>
      </p:sp>
      <p:sp>
        <p:nvSpPr>
          <p:cNvPr id="3" name="Content Placeholder 2">
            <a:extLst>
              <a:ext uri="{FF2B5EF4-FFF2-40B4-BE49-F238E27FC236}">
                <a16:creationId xmlns:a16="http://schemas.microsoft.com/office/drawing/2014/main" id="{9CFACD9E-F8F8-8826-A43B-BCC11D62646E}"/>
              </a:ext>
            </a:extLst>
          </p:cNvPr>
          <p:cNvSpPr>
            <a:spLocks noGrp="1"/>
          </p:cNvSpPr>
          <p:nvPr>
            <p:ph idx="1"/>
          </p:nvPr>
        </p:nvSpPr>
        <p:spPr/>
        <p:txBody>
          <a:bodyPr>
            <a:normAutofit/>
          </a:bodyPr>
          <a:lstStyle/>
          <a:p>
            <a:pPr marL="0" indent="0" algn="just">
              <a:buNone/>
            </a:pPr>
            <a:r>
              <a:rPr lang="en-IN" dirty="0"/>
              <a:t>The dataset used in this analysis is a detailed ad export containing the following key fields:</a:t>
            </a:r>
          </a:p>
          <a:p>
            <a:pPr algn="just"/>
            <a:r>
              <a:rPr lang="en-IN" b="1" dirty="0"/>
              <a:t>Campaign Information</a:t>
            </a:r>
            <a:r>
              <a:rPr lang="en-IN" dirty="0"/>
              <a:t>: Campaign name, Page (brand), Day, and Delivery status.</a:t>
            </a:r>
          </a:p>
          <a:p>
            <a:pPr algn="just"/>
            <a:r>
              <a:rPr lang="en-IN" b="1" dirty="0"/>
              <a:t>Audience Attributes</a:t>
            </a:r>
            <a:r>
              <a:rPr lang="en-IN" dirty="0"/>
              <a:t>: Age (grouped into bins), Gender, and City.</a:t>
            </a:r>
          </a:p>
          <a:p>
            <a:pPr algn="just"/>
            <a:r>
              <a:rPr lang="en-IN" b="1" dirty="0"/>
              <a:t>Performance Metrics</a:t>
            </a:r>
            <a:r>
              <a:rPr lang="en-IN" dirty="0"/>
              <a:t>:</a:t>
            </a:r>
          </a:p>
          <a:p>
            <a:pPr lvl="1" algn="just"/>
            <a:r>
              <a:rPr lang="en-IN" b="1" dirty="0"/>
              <a:t>Impressions</a:t>
            </a:r>
            <a:r>
              <a:rPr lang="en-IN" dirty="0"/>
              <a:t>: Total number of ad views.</a:t>
            </a:r>
          </a:p>
          <a:p>
            <a:pPr lvl="1" algn="just"/>
            <a:r>
              <a:rPr lang="en-IN" b="1" dirty="0"/>
              <a:t>Reach</a:t>
            </a:r>
            <a:r>
              <a:rPr lang="en-IN" dirty="0"/>
              <a:t>: Unique number of people who saw the ad.</a:t>
            </a:r>
          </a:p>
          <a:p>
            <a:pPr lvl="1" algn="just"/>
            <a:r>
              <a:rPr lang="en-IN" b="1" dirty="0"/>
              <a:t>Link</a:t>
            </a:r>
            <a:r>
              <a:rPr lang="en-IN" dirty="0"/>
              <a:t> </a:t>
            </a:r>
            <a:r>
              <a:rPr lang="en-IN" b="1" dirty="0"/>
              <a:t>clicks</a:t>
            </a:r>
            <a:r>
              <a:rPr lang="en-IN" dirty="0"/>
              <a:t>: Number of clicks on the ad link.</a:t>
            </a:r>
          </a:p>
          <a:p>
            <a:pPr lvl="1" algn="just"/>
            <a:r>
              <a:rPr lang="en-IN" b="1" dirty="0"/>
              <a:t>Results</a:t>
            </a:r>
            <a:r>
              <a:rPr lang="en-IN" dirty="0"/>
              <a:t>: Number of conversions (sign-ups, registrations, or purchases).</a:t>
            </a:r>
          </a:p>
          <a:p>
            <a:pPr marL="0" indent="0" algn="just">
              <a:buNone/>
            </a:pPr>
            <a:endParaRPr lang="en-IN" dirty="0"/>
          </a:p>
        </p:txBody>
      </p:sp>
    </p:spTree>
    <p:extLst>
      <p:ext uri="{BB962C8B-B14F-4D97-AF65-F5344CB8AC3E}">
        <p14:creationId xmlns:p14="http://schemas.microsoft.com/office/powerpoint/2010/main" val="16534880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C15D8C-5876-5845-3757-D32E33E38F98}"/>
              </a:ext>
            </a:extLst>
          </p:cNvPr>
          <p:cNvSpPr>
            <a:spLocks noGrp="1"/>
          </p:cNvSpPr>
          <p:nvPr>
            <p:ph idx="4294967295"/>
          </p:nvPr>
        </p:nvSpPr>
        <p:spPr>
          <a:xfrm>
            <a:off x="1515816" y="331788"/>
            <a:ext cx="8999783" cy="5845175"/>
          </a:xfrm>
        </p:spPr>
        <p:txBody>
          <a:bodyPr/>
          <a:lstStyle/>
          <a:p>
            <a:pPr algn="just"/>
            <a:r>
              <a:rPr lang="en-IN" b="1" dirty="0"/>
              <a:t>Financial Metrics</a:t>
            </a:r>
            <a:r>
              <a:rPr lang="en-IN" dirty="0"/>
              <a:t>:</a:t>
            </a:r>
          </a:p>
          <a:p>
            <a:pPr lvl="1" algn="just"/>
            <a:r>
              <a:rPr lang="en-IN" b="1" dirty="0"/>
              <a:t>Amount spent (INR)</a:t>
            </a:r>
            <a:r>
              <a:rPr lang="en-IN" dirty="0"/>
              <a:t>: Total ad spend.</a:t>
            </a:r>
          </a:p>
          <a:p>
            <a:pPr lvl="1" algn="just"/>
            <a:r>
              <a:rPr lang="en-IN" b="1" dirty="0"/>
              <a:t>CTR</a:t>
            </a:r>
            <a:r>
              <a:rPr lang="en-IN" dirty="0"/>
              <a:t>: Click-through rate (link clicks ÷ impressions).</a:t>
            </a:r>
          </a:p>
          <a:p>
            <a:pPr lvl="1" algn="just"/>
            <a:r>
              <a:rPr lang="en-IN" b="1" dirty="0"/>
              <a:t>CPC</a:t>
            </a:r>
            <a:r>
              <a:rPr lang="en-IN" dirty="0"/>
              <a:t>: Cost per click (spend ÷ link clicks).</a:t>
            </a:r>
          </a:p>
          <a:p>
            <a:pPr lvl="1" algn="just"/>
            <a:r>
              <a:rPr lang="en-IN" b="1" dirty="0"/>
              <a:t>CPM</a:t>
            </a:r>
            <a:r>
              <a:rPr lang="en-IN" dirty="0"/>
              <a:t>: Cost per thousand impressions (spend ÷ impressions × 1000).</a:t>
            </a:r>
          </a:p>
          <a:p>
            <a:pPr lvl="1" algn="just"/>
            <a:endParaRPr lang="en-IN" dirty="0"/>
          </a:p>
          <a:p>
            <a:pPr marL="0" indent="0" algn="just">
              <a:buNone/>
            </a:pPr>
            <a:r>
              <a:rPr lang="en-IN" dirty="0"/>
              <a:t>Each row represents the performance of a specific ad or ad set for a given audience slice and time period, providing full visibility from exposure to conversion.</a:t>
            </a:r>
          </a:p>
          <a:p>
            <a:pPr marL="0" indent="0" algn="just">
              <a:buNone/>
            </a:pPr>
            <a:endParaRPr lang="en-IN" dirty="0"/>
          </a:p>
        </p:txBody>
      </p:sp>
    </p:spTree>
    <p:extLst>
      <p:ext uri="{BB962C8B-B14F-4D97-AF65-F5344CB8AC3E}">
        <p14:creationId xmlns:p14="http://schemas.microsoft.com/office/powerpoint/2010/main" val="42599064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8AFC6-841B-6E68-174D-07E434877D2B}"/>
              </a:ext>
            </a:extLst>
          </p:cNvPr>
          <p:cNvSpPr>
            <a:spLocks noGrp="1"/>
          </p:cNvSpPr>
          <p:nvPr>
            <p:ph type="title"/>
          </p:nvPr>
        </p:nvSpPr>
        <p:spPr>
          <a:xfrm>
            <a:off x="1203960" y="347676"/>
            <a:ext cx="9784080" cy="1341424"/>
          </a:xfrm>
        </p:spPr>
        <p:txBody>
          <a:bodyPr/>
          <a:lstStyle/>
          <a:p>
            <a:pPr algn="ctr"/>
            <a:r>
              <a:rPr lang="en-IN" b="1" dirty="0"/>
              <a:t>Building the Power BI Marketing Dashboard</a:t>
            </a:r>
          </a:p>
        </p:txBody>
      </p:sp>
      <p:sp>
        <p:nvSpPr>
          <p:cNvPr id="3" name="Content Placeholder 2">
            <a:extLst>
              <a:ext uri="{FF2B5EF4-FFF2-40B4-BE49-F238E27FC236}">
                <a16:creationId xmlns:a16="http://schemas.microsoft.com/office/drawing/2014/main" id="{A6AC096B-E2AE-DFAB-3739-89D8343794A6}"/>
              </a:ext>
            </a:extLst>
          </p:cNvPr>
          <p:cNvSpPr>
            <a:spLocks noGrp="1"/>
          </p:cNvSpPr>
          <p:nvPr>
            <p:ph idx="1"/>
          </p:nvPr>
        </p:nvSpPr>
        <p:spPr>
          <a:xfrm>
            <a:off x="838200" y="1945400"/>
            <a:ext cx="10515600" cy="4817477"/>
          </a:xfrm>
        </p:spPr>
        <p:txBody>
          <a:bodyPr>
            <a:normAutofit fontScale="92500"/>
          </a:bodyPr>
          <a:lstStyle/>
          <a:p>
            <a:pPr marL="0" indent="0" algn="just">
              <a:buNone/>
            </a:pPr>
            <a:r>
              <a:rPr lang="en-IN" sz="2400" b="1" dirty="0"/>
              <a:t>Data Preparation and Measures</a:t>
            </a:r>
            <a:endParaRPr lang="en-IN" sz="2400" dirty="0"/>
          </a:p>
          <a:p>
            <a:pPr marL="0" indent="0" algn="just">
              <a:buNone/>
            </a:pPr>
            <a:r>
              <a:rPr lang="en-IN" sz="2400" dirty="0"/>
              <a:t>After importing the Excel file into Power BI, key columns were validated and renamed where necessary. Core measures were created to enable strategic analysis:</a:t>
            </a:r>
          </a:p>
          <a:p>
            <a:pPr lvl="1" algn="just"/>
            <a:r>
              <a:rPr lang="en-IN" sz="2400" b="1" dirty="0"/>
              <a:t>Total Results</a:t>
            </a:r>
            <a:r>
              <a:rPr lang="en-IN" sz="2400" dirty="0"/>
              <a:t>: Sum of all conversions across the dataset.</a:t>
            </a:r>
          </a:p>
          <a:p>
            <a:pPr lvl="1" algn="just"/>
            <a:r>
              <a:rPr lang="en-IN" sz="2400" b="1" dirty="0"/>
              <a:t>Total Spend</a:t>
            </a:r>
            <a:r>
              <a:rPr lang="en-IN" sz="2400" dirty="0"/>
              <a:t>: Total amount spent on ads in INR.</a:t>
            </a:r>
          </a:p>
          <a:p>
            <a:pPr lvl="1" algn="just"/>
            <a:r>
              <a:rPr lang="en-IN" sz="2400" b="1" dirty="0"/>
              <a:t>Total Impressions</a:t>
            </a:r>
            <a:r>
              <a:rPr lang="en-IN" sz="2400" dirty="0"/>
              <a:t>: Total number of ad impressions.</a:t>
            </a:r>
          </a:p>
          <a:p>
            <a:pPr lvl="1" algn="just"/>
            <a:r>
              <a:rPr lang="en-IN" sz="2400" b="1" dirty="0"/>
              <a:t>Total Link Clicks</a:t>
            </a:r>
            <a:r>
              <a:rPr lang="en-IN" sz="2400" dirty="0"/>
              <a:t>: Total number of ad link clicks.</a:t>
            </a:r>
          </a:p>
          <a:p>
            <a:pPr lvl="1" algn="just"/>
            <a:r>
              <a:rPr lang="en-IN" sz="2400" b="1" dirty="0" err="1"/>
              <a:t>Avg</a:t>
            </a:r>
            <a:r>
              <a:rPr lang="en-IN" sz="2400" b="1" dirty="0"/>
              <a:t> Cost per Result</a:t>
            </a:r>
            <a:r>
              <a:rPr lang="en-IN" sz="2400" dirty="0"/>
              <a:t>: Total spend divided by total results (a key efficiency metric).</a:t>
            </a:r>
          </a:p>
          <a:p>
            <a:pPr lvl="1" algn="just"/>
            <a:r>
              <a:rPr lang="en-IN" sz="2400" b="1" dirty="0"/>
              <a:t>CTR %</a:t>
            </a:r>
            <a:r>
              <a:rPr lang="en-IN" sz="2400" dirty="0"/>
              <a:t>: Link clicks divided by impressions, expressed as a percentage.</a:t>
            </a:r>
          </a:p>
          <a:p>
            <a:pPr lvl="1" algn="just"/>
            <a:r>
              <a:rPr lang="en-IN" sz="2400" b="1" dirty="0"/>
              <a:t>CPM</a:t>
            </a:r>
            <a:r>
              <a:rPr lang="en-IN" sz="2400" dirty="0"/>
              <a:t>: Spend per 1,000 impressions.</a:t>
            </a:r>
          </a:p>
          <a:p>
            <a:pPr lvl="1" algn="just"/>
            <a:r>
              <a:rPr lang="en-IN" sz="2400" b="1" dirty="0"/>
              <a:t>Top Campaign</a:t>
            </a:r>
            <a:r>
              <a:rPr lang="en-IN" sz="2400" dirty="0"/>
              <a:t>: A measure that dynamically returns the campaign name with the highest total results.</a:t>
            </a:r>
          </a:p>
        </p:txBody>
      </p:sp>
    </p:spTree>
    <p:extLst>
      <p:ext uri="{BB962C8B-B14F-4D97-AF65-F5344CB8AC3E}">
        <p14:creationId xmlns:p14="http://schemas.microsoft.com/office/powerpoint/2010/main" val="5593733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6202F3-54FD-7867-56AF-E75EE3F5D4ED}"/>
              </a:ext>
            </a:extLst>
          </p:cNvPr>
          <p:cNvSpPr>
            <a:spLocks noGrp="1"/>
          </p:cNvSpPr>
          <p:nvPr>
            <p:ph idx="4294967295"/>
          </p:nvPr>
        </p:nvSpPr>
        <p:spPr>
          <a:xfrm>
            <a:off x="1172151" y="312738"/>
            <a:ext cx="9727006" cy="5864225"/>
          </a:xfrm>
        </p:spPr>
        <p:txBody>
          <a:bodyPr>
            <a:normAutofit lnSpcReduction="10000"/>
          </a:bodyPr>
          <a:lstStyle/>
          <a:p>
            <a:pPr marL="0" indent="0" algn="just">
              <a:buNone/>
            </a:pPr>
            <a:r>
              <a:rPr lang="en-IN" sz="2400" b="1" dirty="0"/>
              <a:t>Dashboard Layout and User Experience</a:t>
            </a:r>
            <a:endParaRPr lang="en-IN" sz="2400" dirty="0"/>
          </a:p>
          <a:p>
            <a:pPr algn="just"/>
            <a:r>
              <a:rPr lang="en-IN" sz="2400" dirty="0"/>
              <a:t>A single 1920×1080 canvas was designed to keep the entire story on one page, making it ideal for decision-makers, presentations, and portfolio reviews.</a:t>
            </a:r>
          </a:p>
          <a:p>
            <a:pPr algn="just"/>
            <a:r>
              <a:rPr lang="en-IN" sz="2400" b="1" dirty="0"/>
              <a:t>Filtering Layer</a:t>
            </a:r>
            <a:r>
              <a:rPr lang="en-IN" sz="2400" dirty="0"/>
              <a:t>: The top section contains four dropdown slicers—Campaign, Page, City, and Delivery Status—allowing users to instantly slice the entire dashboard by brand, geography, delivery performance, and campaign selection.</a:t>
            </a:r>
          </a:p>
          <a:p>
            <a:pPr marL="0" indent="0" algn="just">
              <a:buNone/>
            </a:pPr>
            <a:r>
              <a:rPr lang="en-IN" sz="2400" b="1" dirty="0"/>
              <a:t>KPI Summary</a:t>
            </a:r>
            <a:r>
              <a:rPr lang="en-IN" sz="2400" dirty="0"/>
              <a:t>: Below the slicers, six key metric cards display:</a:t>
            </a:r>
          </a:p>
          <a:p>
            <a:pPr lvl="1" algn="just"/>
            <a:r>
              <a:rPr lang="en-IN" sz="2400" dirty="0"/>
              <a:t>Total Results</a:t>
            </a:r>
          </a:p>
          <a:p>
            <a:pPr lvl="1" algn="just"/>
            <a:r>
              <a:rPr lang="en-IN" sz="2400" dirty="0"/>
              <a:t>Total Spend (in INR)</a:t>
            </a:r>
          </a:p>
          <a:p>
            <a:pPr lvl="1" algn="just"/>
            <a:r>
              <a:rPr lang="en-IN" sz="2400" dirty="0" err="1"/>
              <a:t>Avg</a:t>
            </a:r>
            <a:r>
              <a:rPr lang="en-IN" sz="2400" dirty="0"/>
              <a:t> Cost per Result</a:t>
            </a:r>
          </a:p>
          <a:p>
            <a:pPr lvl="1" algn="just"/>
            <a:r>
              <a:rPr lang="en-IN" sz="2400" dirty="0"/>
              <a:t>CTR %</a:t>
            </a:r>
          </a:p>
          <a:p>
            <a:pPr lvl="1" algn="just"/>
            <a:r>
              <a:rPr lang="en-IN" sz="2400" dirty="0"/>
              <a:t>Total Impressions</a:t>
            </a:r>
          </a:p>
          <a:p>
            <a:pPr lvl="1" algn="just"/>
            <a:r>
              <a:rPr lang="en-IN" sz="2400" dirty="0"/>
              <a:t>Top Campaign (dynamically updated)</a:t>
            </a:r>
          </a:p>
          <a:p>
            <a:pPr marL="0" indent="0" algn="just">
              <a:buNone/>
            </a:pPr>
            <a:endParaRPr lang="en-IN" dirty="0"/>
          </a:p>
        </p:txBody>
      </p:sp>
    </p:spTree>
    <p:extLst>
      <p:ext uri="{BB962C8B-B14F-4D97-AF65-F5344CB8AC3E}">
        <p14:creationId xmlns:p14="http://schemas.microsoft.com/office/powerpoint/2010/main" val="7011705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306A4A-0521-973A-3921-D8CE225A6A3F}"/>
              </a:ext>
            </a:extLst>
          </p:cNvPr>
          <p:cNvSpPr>
            <a:spLocks noGrp="1"/>
          </p:cNvSpPr>
          <p:nvPr>
            <p:ph idx="4294967295"/>
          </p:nvPr>
        </p:nvSpPr>
        <p:spPr>
          <a:xfrm>
            <a:off x="1147602" y="196382"/>
            <a:ext cx="9696323" cy="6498990"/>
          </a:xfrm>
        </p:spPr>
        <p:txBody>
          <a:bodyPr>
            <a:normAutofit fontScale="92500"/>
          </a:bodyPr>
          <a:lstStyle/>
          <a:p>
            <a:pPr marL="0" indent="0" algn="just">
              <a:buNone/>
            </a:pPr>
            <a:r>
              <a:rPr lang="en-IN" b="1" dirty="0"/>
              <a:t>Visual Analytics Layer</a:t>
            </a:r>
            <a:r>
              <a:rPr lang="en-IN" dirty="0"/>
              <a:t>: Six complementary charts tell the complete performance story:</a:t>
            </a:r>
          </a:p>
          <a:p>
            <a:pPr lvl="0" algn="just"/>
            <a:r>
              <a:rPr lang="en-IN" b="1" dirty="0"/>
              <a:t>Campaign Performance</a:t>
            </a:r>
            <a:r>
              <a:rPr lang="en-IN" dirty="0"/>
              <a:t>: A horizontal bar chart ranking campaigns by total results, with campaigns sorted in descending order of performance. This immediately identifies the top and bottom performers.</a:t>
            </a:r>
          </a:p>
          <a:p>
            <a:pPr lvl="0" algn="just"/>
            <a:r>
              <a:rPr lang="en-IN" b="1" dirty="0"/>
              <a:t>Cost per Result by Campaign</a:t>
            </a:r>
            <a:r>
              <a:rPr lang="en-IN" dirty="0"/>
              <a:t>: A column chart using a light cyan </a:t>
            </a:r>
            <a:r>
              <a:rPr lang="en-IN" dirty="0" err="1"/>
              <a:t>color</a:t>
            </a:r>
            <a:r>
              <a:rPr lang="en-IN" dirty="0"/>
              <a:t> palette, emphasizing efficiency where lower values are better. The subtitle "(Lower is better)" reinforces this insight.</a:t>
            </a:r>
          </a:p>
          <a:p>
            <a:pPr lvl="0" algn="just"/>
            <a:r>
              <a:rPr lang="en-IN" b="1" dirty="0"/>
              <a:t>Monthly Trend</a:t>
            </a:r>
            <a:r>
              <a:rPr lang="en-IN" dirty="0"/>
              <a:t>: A multi-line chart showing how impressions, reach, and results evolve across months, revealing seasonality and campaign timing patterns.</a:t>
            </a:r>
          </a:p>
          <a:p>
            <a:pPr lvl="0" algn="just"/>
            <a:r>
              <a:rPr lang="en-IN" b="1" dirty="0"/>
              <a:t>Overall Funnel</a:t>
            </a:r>
            <a:r>
              <a:rPr lang="en-IN" dirty="0"/>
              <a:t>: Horizontal bars showing the drop-off from Impressions → Reach → Clicks → Link clicks → Results, with decreasing shades of cyan to visually represent the narrowing funnel. The subtitle "(Shows total volume at each stage)" clarifies the purpose.</a:t>
            </a:r>
          </a:p>
          <a:p>
            <a:pPr lvl="0" algn="just"/>
            <a:r>
              <a:rPr lang="en-IN" b="1" dirty="0"/>
              <a:t>Share of Results by Age Group</a:t>
            </a:r>
            <a:r>
              <a:rPr lang="en-IN" dirty="0"/>
              <a:t>: A donut chart displaying the percentage of total results contributed by each age demographic, helping identify the most valuable audience segments.</a:t>
            </a:r>
          </a:p>
          <a:p>
            <a:pPr lvl="0" algn="just"/>
            <a:r>
              <a:rPr lang="en-IN" b="1" dirty="0"/>
              <a:t>Top 10 Cities by Results</a:t>
            </a:r>
            <a:r>
              <a:rPr lang="en-IN" dirty="0"/>
              <a:t>: A column chart showing the geographic distribution of conversions, with city labels angled for readability and filtering to the top 10 for clarity.</a:t>
            </a:r>
          </a:p>
          <a:p>
            <a:pPr lvl="0" algn="just"/>
            <a:endParaRPr lang="en-IN" dirty="0"/>
          </a:p>
          <a:p>
            <a:pPr marL="0" indent="0" algn="just">
              <a:buNone/>
            </a:pPr>
            <a:endParaRPr lang="en-IN" dirty="0"/>
          </a:p>
        </p:txBody>
      </p:sp>
    </p:spTree>
    <p:extLst>
      <p:ext uri="{BB962C8B-B14F-4D97-AF65-F5344CB8AC3E}">
        <p14:creationId xmlns:p14="http://schemas.microsoft.com/office/powerpoint/2010/main" val="9686512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1AD6F-C9A9-407F-0B4D-059C703DAB71}"/>
              </a:ext>
            </a:extLst>
          </p:cNvPr>
          <p:cNvSpPr>
            <a:spLocks noGrp="1"/>
          </p:cNvSpPr>
          <p:nvPr>
            <p:ph type="title"/>
          </p:nvPr>
        </p:nvSpPr>
        <p:spPr>
          <a:xfrm>
            <a:off x="838200" y="340576"/>
            <a:ext cx="10515600" cy="1325563"/>
          </a:xfrm>
        </p:spPr>
        <p:txBody>
          <a:bodyPr/>
          <a:lstStyle/>
          <a:p>
            <a:pPr algn="ctr"/>
            <a:r>
              <a:rPr lang="en-IN" b="1" dirty="0"/>
              <a:t>Key Insights from the Dashboard</a:t>
            </a:r>
          </a:p>
        </p:txBody>
      </p:sp>
      <p:sp>
        <p:nvSpPr>
          <p:cNvPr id="3" name="Content Placeholder 2">
            <a:extLst>
              <a:ext uri="{FF2B5EF4-FFF2-40B4-BE49-F238E27FC236}">
                <a16:creationId xmlns:a16="http://schemas.microsoft.com/office/drawing/2014/main" id="{2B4928B5-4C76-8492-BC92-6DE4A1BFE661}"/>
              </a:ext>
            </a:extLst>
          </p:cNvPr>
          <p:cNvSpPr>
            <a:spLocks noGrp="1"/>
          </p:cNvSpPr>
          <p:nvPr>
            <p:ph idx="1"/>
          </p:nvPr>
        </p:nvSpPr>
        <p:spPr>
          <a:xfrm>
            <a:off x="838200" y="2000634"/>
            <a:ext cx="10515600" cy="4516790"/>
          </a:xfrm>
        </p:spPr>
        <p:txBody>
          <a:bodyPr>
            <a:normAutofit fontScale="92500" lnSpcReduction="10000"/>
          </a:bodyPr>
          <a:lstStyle/>
          <a:p>
            <a:pPr marL="514350" indent="-514350" algn="just">
              <a:buAutoNum type="arabicPeriod"/>
            </a:pPr>
            <a:r>
              <a:rPr lang="en-IN" b="1" dirty="0"/>
              <a:t>Campaign Performance</a:t>
            </a:r>
          </a:p>
          <a:p>
            <a:pPr marL="0" indent="0" algn="just">
              <a:buNone/>
            </a:pPr>
            <a:r>
              <a:rPr lang="en-IN" dirty="0"/>
              <a:t>	A small group of campaigns—particularly AI &amp; ML Foundations and SQL Skills Training—contribute a disproportionate share of total results while maintaining a competitive average cost per result. This indicates strong product-market fit for these offerings and suggests they warrant increased budget allocation.</a:t>
            </a:r>
            <a:endParaRPr lang="en-IN" b="1" dirty="0"/>
          </a:p>
          <a:p>
            <a:pPr marL="0" indent="0" algn="just">
              <a:buNone/>
            </a:pPr>
            <a:r>
              <a:rPr lang="en-IN" b="1" dirty="0"/>
              <a:t>2. Efficiency Metrics</a:t>
            </a:r>
          </a:p>
          <a:p>
            <a:pPr marL="0" indent="0" algn="just">
              <a:buNone/>
            </a:pPr>
            <a:r>
              <a:rPr lang="en-IN" b="1" dirty="0"/>
              <a:t>	</a:t>
            </a:r>
            <a:r>
              <a:rPr lang="en-IN" dirty="0"/>
              <a:t>The cost-per-result visualization makes it immediately clear which campaigns justify their spend and which may need creative overhauls or audience refinement. Campaigns with high spend but weak efficiency should be prioritized for A/B testing or potentially paused.</a:t>
            </a:r>
          </a:p>
          <a:p>
            <a:pPr marL="0" indent="0" algn="just">
              <a:buNone/>
            </a:pPr>
            <a:r>
              <a:rPr lang="en-IN" b="1" dirty="0"/>
              <a:t>3. Temporal Patterns</a:t>
            </a:r>
            <a:endParaRPr lang="en-IN" dirty="0"/>
          </a:p>
          <a:p>
            <a:pPr marL="0" indent="0" algn="just">
              <a:buNone/>
            </a:pPr>
            <a:r>
              <a:rPr lang="en-IN" dirty="0"/>
              <a:t>	The monthly trend view reveals that impressions and reach ramp up over time with a clear peak in mid-year months, followed by a decline. Results follow a similar pattern but with more variability, suggesting that conversion rate changes across months independent of reach.</a:t>
            </a:r>
          </a:p>
          <a:p>
            <a:pPr marL="0" indent="0" algn="just">
              <a:buNone/>
            </a:pPr>
            <a:endParaRPr lang="en-IN" dirty="0"/>
          </a:p>
        </p:txBody>
      </p:sp>
    </p:spTree>
    <p:extLst>
      <p:ext uri="{BB962C8B-B14F-4D97-AF65-F5344CB8AC3E}">
        <p14:creationId xmlns:p14="http://schemas.microsoft.com/office/powerpoint/2010/main" val="22120417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D550A4-CCB5-EECE-0CC1-E39D9D159A2D}"/>
              </a:ext>
            </a:extLst>
          </p:cNvPr>
          <p:cNvSpPr>
            <a:spLocks noGrp="1"/>
          </p:cNvSpPr>
          <p:nvPr>
            <p:ph idx="4294967295"/>
          </p:nvPr>
        </p:nvSpPr>
        <p:spPr>
          <a:xfrm>
            <a:off x="859168" y="220929"/>
            <a:ext cx="10340698" cy="6456032"/>
          </a:xfrm>
        </p:spPr>
        <p:txBody>
          <a:bodyPr>
            <a:normAutofit/>
          </a:bodyPr>
          <a:lstStyle/>
          <a:p>
            <a:pPr marL="0" indent="0" algn="just">
              <a:buNone/>
            </a:pPr>
            <a:r>
              <a:rPr lang="en-IN" b="1" dirty="0"/>
              <a:t>4. Funnel Performance</a:t>
            </a:r>
            <a:endParaRPr lang="en-IN" dirty="0"/>
          </a:p>
          <a:p>
            <a:pPr marL="0" indent="0" algn="just">
              <a:buNone/>
            </a:pPr>
            <a:r>
              <a:rPr lang="en-IN" dirty="0"/>
              <a:t>	The overall funnel clarifies that while the dataset captures millions of impressions and a strong reach, only a small fraction progress through to clicks, link clicks, and final results. The overall CTR of approximately 3.35% is typical for education-focused ads, and the gap between link clicks and results suggests a landing page or sign-up process optimization opportunity.</a:t>
            </a:r>
          </a:p>
          <a:p>
            <a:pPr marL="0" indent="0" algn="just">
              <a:buNone/>
            </a:pPr>
            <a:r>
              <a:rPr lang="en-IN" b="1" dirty="0"/>
              <a:t>5. Demographic Insights</a:t>
            </a:r>
            <a:endParaRPr lang="en-IN" dirty="0"/>
          </a:p>
          <a:p>
            <a:pPr marL="0" indent="0" algn="just">
              <a:buNone/>
            </a:pPr>
            <a:r>
              <a:rPr lang="en-IN" dirty="0"/>
              <a:t>	The 20–30 age group is the dominant contributor to conversions, accounting for over two-thirds of total results. This suggests that younger, digitally native audiences are most responsive to analytics education offerings.</a:t>
            </a:r>
          </a:p>
          <a:p>
            <a:pPr marL="0" indent="0" algn="just">
              <a:buNone/>
            </a:pPr>
            <a:r>
              <a:rPr lang="en-IN" b="1" dirty="0"/>
              <a:t>6. Geographic Performance</a:t>
            </a:r>
            <a:endParaRPr lang="en-IN" dirty="0"/>
          </a:p>
          <a:p>
            <a:pPr marL="0" indent="0" algn="just">
              <a:buNone/>
            </a:pPr>
            <a:r>
              <a:rPr lang="en-IN" dirty="0"/>
              <a:t>	Cities like Bengaluru, Mumbai, and Hyderabad consistently appear at the top of the performance list by results. These metros likely represent higher concentrations of IT professionals and career-changers interested in data science and analytics skills.</a:t>
            </a:r>
          </a:p>
          <a:p>
            <a:pPr marL="0" indent="0" algn="just">
              <a:buNone/>
            </a:pPr>
            <a:endParaRPr lang="en-IN" dirty="0"/>
          </a:p>
          <a:p>
            <a:pPr marL="0" indent="0" algn="just">
              <a:buNone/>
            </a:pPr>
            <a:endParaRPr lang="en-IN" dirty="0"/>
          </a:p>
          <a:p>
            <a:pPr marL="0" indent="0" algn="just">
              <a:buNone/>
            </a:pPr>
            <a:endParaRPr lang="en-IN" dirty="0"/>
          </a:p>
        </p:txBody>
      </p:sp>
    </p:spTree>
    <p:extLst>
      <p:ext uri="{BB962C8B-B14F-4D97-AF65-F5344CB8AC3E}">
        <p14:creationId xmlns:p14="http://schemas.microsoft.com/office/powerpoint/2010/main" val="11383099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34E14-28DA-F7DB-FDE6-B9B8A47C06A0}"/>
              </a:ext>
            </a:extLst>
          </p:cNvPr>
          <p:cNvSpPr>
            <a:spLocks noGrp="1"/>
          </p:cNvSpPr>
          <p:nvPr>
            <p:ph type="title"/>
          </p:nvPr>
        </p:nvSpPr>
        <p:spPr>
          <a:xfrm>
            <a:off x="838200" y="371284"/>
            <a:ext cx="10515600" cy="1325563"/>
          </a:xfrm>
        </p:spPr>
        <p:txBody>
          <a:bodyPr/>
          <a:lstStyle/>
          <a:p>
            <a:pPr algn="ctr"/>
            <a:r>
              <a:rPr lang="en-IN" b="1" dirty="0"/>
              <a:t>Recommendations for Campaign Optimization</a:t>
            </a:r>
            <a:endParaRPr lang="en-IN" dirty="0"/>
          </a:p>
        </p:txBody>
      </p:sp>
      <p:sp>
        <p:nvSpPr>
          <p:cNvPr id="3" name="Content Placeholder 2">
            <a:extLst>
              <a:ext uri="{FF2B5EF4-FFF2-40B4-BE49-F238E27FC236}">
                <a16:creationId xmlns:a16="http://schemas.microsoft.com/office/drawing/2014/main" id="{8DB6EFB6-0F32-B318-4699-D0ED20B044A4}"/>
              </a:ext>
            </a:extLst>
          </p:cNvPr>
          <p:cNvSpPr>
            <a:spLocks noGrp="1"/>
          </p:cNvSpPr>
          <p:nvPr>
            <p:ph idx="1"/>
          </p:nvPr>
        </p:nvSpPr>
        <p:spPr>
          <a:xfrm>
            <a:off x="838200" y="2068139"/>
            <a:ext cx="10515600" cy="4418577"/>
          </a:xfrm>
        </p:spPr>
        <p:txBody>
          <a:bodyPr>
            <a:normAutofit fontScale="92500"/>
          </a:bodyPr>
          <a:lstStyle/>
          <a:p>
            <a:pPr marL="0" indent="0" algn="just">
              <a:buNone/>
            </a:pPr>
            <a:r>
              <a:rPr lang="en-IN" b="1" dirty="0"/>
              <a:t>1. Budget Reallocation</a:t>
            </a:r>
            <a:endParaRPr lang="en-IN" dirty="0"/>
          </a:p>
          <a:p>
            <a:pPr marL="0" indent="0" algn="just">
              <a:buNone/>
            </a:pPr>
            <a:r>
              <a:rPr lang="en-IN" dirty="0"/>
              <a:t>	Shift budget from low-performing campaigns and demographics toward high-performing ones. Specifically, increase investment in campaigns driving results at or below the median cost per result, particularly in top-performing cities.</a:t>
            </a:r>
          </a:p>
          <a:p>
            <a:pPr marL="0" indent="0" algn="just">
              <a:buNone/>
            </a:pPr>
            <a:r>
              <a:rPr lang="en-IN" b="1" dirty="0"/>
              <a:t>2. Audience Refinement</a:t>
            </a:r>
            <a:endParaRPr lang="en-IN" dirty="0"/>
          </a:p>
          <a:p>
            <a:pPr marL="0" indent="0" algn="just">
              <a:buNone/>
            </a:pPr>
            <a:r>
              <a:rPr lang="en-IN" dirty="0"/>
              <a:t>	Create audience segments specifically targeting the 20–30 age group in Tier-1 cities. Consider developing tailored creatives and landing pages for this demographic to increase conversion rates further.</a:t>
            </a:r>
          </a:p>
          <a:p>
            <a:pPr marL="0" indent="0" algn="just">
              <a:buNone/>
            </a:pPr>
            <a:r>
              <a:rPr lang="en-IN" b="1" dirty="0"/>
              <a:t>3. Creative and Messaging Optimization</a:t>
            </a:r>
            <a:endParaRPr lang="en-IN" dirty="0"/>
          </a:p>
          <a:p>
            <a:pPr marL="0" indent="0" algn="just">
              <a:buNone/>
            </a:pPr>
            <a:r>
              <a:rPr lang="en-IN" dirty="0"/>
              <a:t>	Conduct A/B tests on underperforming campaigns, varying ad creatives, headlines, landing page designs, and call-to-action messaging. Pay special attention to campaigns with high reach but low CTR, as they may be reaching the right audience but not compelling them to click.</a:t>
            </a:r>
          </a:p>
          <a:p>
            <a:pPr marL="0" indent="0" algn="just">
              <a:buNone/>
            </a:pPr>
            <a:endParaRPr lang="en-IN" dirty="0"/>
          </a:p>
        </p:txBody>
      </p:sp>
    </p:spTree>
    <p:extLst>
      <p:ext uri="{BB962C8B-B14F-4D97-AF65-F5344CB8AC3E}">
        <p14:creationId xmlns:p14="http://schemas.microsoft.com/office/powerpoint/2010/main" val="24816703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B38DEB-BAB1-0328-CDEC-AA7818C86504}"/>
              </a:ext>
            </a:extLst>
          </p:cNvPr>
          <p:cNvSpPr>
            <a:spLocks noGrp="1"/>
          </p:cNvSpPr>
          <p:nvPr>
            <p:ph idx="4294967295"/>
          </p:nvPr>
        </p:nvSpPr>
        <p:spPr>
          <a:xfrm>
            <a:off x="1202834" y="338138"/>
            <a:ext cx="9696323" cy="5838825"/>
          </a:xfrm>
        </p:spPr>
        <p:txBody>
          <a:bodyPr/>
          <a:lstStyle/>
          <a:p>
            <a:pPr marL="0" indent="0" algn="just">
              <a:buNone/>
            </a:pPr>
            <a:r>
              <a:rPr lang="en-IN" b="1" dirty="0"/>
              <a:t>4. Funnel Analysis and Improvement</a:t>
            </a:r>
            <a:endParaRPr lang="en-IN" dirty="0"/>
          </a:p>
          <a:p>
            <a:pPr marL="0" indent="0" algn="just">
              <a:buNone/>
            </a:pPr>
            <a:r>
              <a:rPr lang="en-IN" dirty="0"/>
              <a:t>	The significant drop-off from link clicks to results suggests friction in the sign-up or checkout process. Review the landing page experience, form complexity, and checkout flow to identify and eliminate barriers to conversion.</a:t>
            </a:r>
          </a:p>
          <a:p>
            <a:pPr marL="0" indent="0" algn="just">
              <a:buNone/>
            </a:pPr>
            <a:r>
              <a:rPr lang="en-IN" b="1" dirty="0"/>
              <a:t>5. Seasonal Campaign Planning</a:t>
            </a:r>
            <a:endParaRPr lang="en-IN" dirty="0"/>
          </a:p>
          <a:p>
            <a:pPr marL="0" indent="0" algn="just">
              <a:buNone/>
            </a:pPr>
            <a:r>
              <a:rPr lang="en-IN" dirty="0"/>
              <a:t>	Leverage the observed seasonality by front-loading budget toward high-performing months and reducing spend during lower-performance periods. Consider running promotional campaigns or new course launches during the identified peak months.</a:t>
            </a:r>
          </a:p>
          <a:p>
            <a:pPr marL="0" indent="0" algn="just">
              <a:buNone/>
            </a:pPr>
            <a:endParaRPr lang="en-IN" dirty="0"/>
          </a:p>
        </p:txBody>
      </p:sp>
    </p:spTree>
    <p:extLst>
      <p:ext uri="{BB962C8B-B14F-4D97-AF65-F5344CB8AC3E}">
        <p14:creationId xmlns:p14="http://schemas.microsoft.com/office/powerpoint/2010/main" val="3137281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72E46-CD51-95DB-3911-E4646579C47A}"/>
              </a:ext>
            </a:extLst>
          </p:cNvPr>
          <p:cNvSpPr>
            <a:spLocks noGrp="1"/>
          </p:cNvSpPr>
          <p:nvPr>
            <p:ph type="title"/>
          </p:nvPr>
        </p:nvSpPr>
        <p:spPr>
          <a:xfrm>
            <a:off x="838200" y="383536"/>
            <a:ext cx="10515600" cy="1325563"/>
          </a:xfrm>
        </p:spPr>
        <p:txBody>
          <a:bodyPr/>
          <a:lstStyle/>
          <a:p>
            <a:pPr algn="ctr"/>
            <a:r>
              <a:rPr lang="en-IN" b="1" dirty="0"/>
              <a:t>Future Enhancements and Next Steps</a:t>
            </a:r>
            <a:endParaRPr lang="en-IN" dirty="0"/>
          </a:p>
        </p:txBody>
      </p:sp>
      <p:sp>
        <p:nvSpPr>
          <p:cNvPr id="3" name="Content Placeholder 2">
            <a:extLst>
              <a:ext uri="{FF2B5EF4-FFF2-40B4-BE49-F238E27FC236}">
                <a16:creationId xmlns:a16="http://schemas.microsoft.com/office/drawing/2014/main" id="{D10D2897-1BAE-C4CB-F15A-B927AD6CE1E7}"/>
              </a:ext>
            </a:extLst>
          </p:cNvPr>
          <p:cNvSpPr>
            <a:spLocks noGrp="1"/>
          </p:cNvSpPr>
          <p:nvPr>
            <p:ph idx="1"/>
          </p:nvPr>
        </p:nvSpPr>
        <p:spPr>
          <a:xfrm>
            <a:off x="838200" y="1902443"/>
            <a:ext cx="10515600" cy="4274520"/>
          </a:xfrm>
        </p:spPr>
        <p:txBody>
          <a:bodyPr/>
          <a:lstStyle/>
          <a:p>
            <a:pPr marL="0" indent="0" algn="just">
              <a:buNone/>
            </a:pPr>
            <a:r>
              <a:rPr lang="en-IN" b="1" dirty="0"/>
              <a:t>1. Integration of Revenue Data</a:t>
            </a:r>
            <a:endParaRPr lang="en-IN" dirty="0"/>
          </a:p>
          <a:p>
            <a:pPr marL="0" indent="0" algn="just">
              <a:buNone/>
            </a:pPr>
            <a:r>
              <a:rPr lang="en-IN" dirty="0"/>
              <a:t>	Extend the dashboard with downstream business metrics such as enrolment confirmation, course completion rates, and actual revenue per campaign. This would enable calculation of true Bottom-of-Funnel metrics like ROAS (Return on Advertising Spend), ACOS (Advertising Cost of Sales), and CAC (Customer Acquisition Cost).</a:t>
            </a:r>
          </a:p>
          <a:p>
            <a:pPr marL="0" indent="0" algn="just">
              <a:buNone/>
            </a:pPr>
            <a:r>
              <a:rPr lang="en-IN" b="1" dirty="0"/>
              <a:t>2. Predictive Analytics</a:t>
            </a:r>
            <a:endParaRPr lang="en-IN" dirty="0"/>
          </a:p>
          <a:p>
            <a:pPr marL="0" indent="0" algn="just">
              <a:buNone/>
            </a:pPr>
            <a:r>
              <a:rPr lang="en-IN" dirty="0"/>
              <a:t>	Implement machine learning models to forecast future performance based on historical patterns, predict which audience segments are most likely to convert, and automatically recommend budget allocation changes.</a:t>
            </a:r>
          </a:p>
          <a:p>
            <a:pPr marL="0" indent="0" algn="just">
              <a:buNone/>
            </a:pPr>
            <a:endParaRPr lang="en-IN" dirty="0"/>
          </a:p>
        </p:txBody>
      </p:sp>
    </p:spTree>
    <p:extLst>
      <p:ext uri="{BB962C8B-B14F-4D97-AF65-F5344CB8AC3E}">
        <p14:creationId xmlns:p14="http://schemas.microsoft.com/office/powerpoint/2010/main" val="42765113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40CEBB-1743-61B4-B018-649F82EBB727}"/>
              </a:ext>
            </a:extLst>
          </p:cNvPr>
          <p:cNvSpPr>
            <a:spLocks noGrp="1"/>
          </p:cNvSpPr>
          <p:nvPr>
            <p:ph idx="4294967295"/>
          </p:nvPr>
        </p:nvSpPr>
        <p:spPr>
          <a:xfrm>
            <a:off x="1215108" y="282575"/>
            <a:ext cx="9868156" cy="5894388"/>
          </a:xfrm>
        </p:spPr>
        <p:txBody>
          <a:bodyPr>
            <a:normAutofit/>
          </a:bodyPr>
          <a:lstStyle/>
          <a:p>
            <a:pPr marL="0" indent="0" algn="just">
              <a:buNone/>
            </a:pPr>
            <a:r>
              <a:rPr lang="en-IN" b="1" dirty="0"/>
              <a:t>3. Unified Full-Funnel Measurement</a:t>
            </a:r>
            <a:endParaRPr lang="en-IN" dirty="0"/>
          </a:p>
          <a:p>
            <a:pPr marL="0" indent="0" algn="just">
              <a:buNone/>
            </a:pPr>
            <a:r>
              <a:rPr lang="en-IN" dirty="0"/>
              <a:t>	Integrate TOFU, MOFU, and BOFU data into a single cohesive dashboard, enabling comparison of performance at each funnel stage and identification of where optimization efforts would have the highest impact.</a:t>
            </a:r>
          </a:p>
          <a:p>
            <a:pPr marL="0" indent="0" algn="just">
              <a:buNone/>
            </a:pPr>
            <a:r>
              <a:rPr lang="en-IN" b="1" dirty="0"/>
              <a:t>4. Real-Time Alerting</a:t>
            </a:r>
            <a:endParaRPr lang="en-IN" dirty="0"/>
          </a:p>
          <a:p>
            <a:pPr marL="0" indent="0" algn="just">
              <a:buNone/>
            </a:pPr>
            <a:r>
              <a:rPr lang="en-IN" dirty="0"/>
              <a:t>	Set up automated alerts to notify the marketing team when key metrics—such as CTR or cost per result—deviate significantly from expected ranges, enabling rapid response to underperforming campaigns.</a:t>
            </a:r>
          </a:p>
          <a:p>
            <a:pPr marL="0" indent="0" algn="just">
              <a:buNone/>
            </a:pPr>
            <a:r>
              <a:rPr lang="en-IN" b="1" dirty="0"/>
              <a:t>5. Attribution Modelling</a:t>
            </a:r>
            <a:endParaRPr lang="en-IN" dirty="0"/>
          </a:p>
          <a:p>
            <a:pPr marL="0" indent="0" algn="just">
              <a:buNone/>
            </a:pPr>
            <a:r>
              <a:rPr lang="en-IN" dirty="0"/>
              <a:t>	Implement multi-touch attribution to understand how different campaigns and touchpoints combine to drive conversions, moving beyond last-click attribution to a more sophisticated understanding of the customer journey.</a:t>
            </a:r>
          </a:p>
          <a:p>
            <a:pPr marL="0" indent="0" algn="just">
              <a:buNone/>
            </a:pPr>
            <a:endParaRPr lang="en-IN" dirty="0"/>
          </a:p>
        </p:txBody>
      </p:sp>
    </p:spTree>
    <p:extLst>
      <p:ext uri="{BB962C8B-B14F-4D97-AF65-F5344CB8AC3E}">
        <p14:creationId xmlns:p14="http://schemas.microsoft.com/office/powerpoint/2010/main" val="32793685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38409-A8AB-A51D-3EAE-10D90CAA9509}"/>
              </a:ext>
            </a:extLst>
          </p:cNvPr>
          <p:cNvSpPr>
            <a:spLocks noGrp="1"/>
          </p:cNvSpPr>
          <p:nvPr>
            <p:ph type="title"/>
          </p:nvPr>
        </p:nvSpPr>
        <p:spPr>
          <a:xfrm>
            <a:off x="838200" y="506274"/>
            <a:ext cx="10515600" cy="1064776"/>
          </a:xfrm>
        </p:spPr>
        <p:txBody>
          <a:bodyPr/>
          <a:lstStyle/>
          <a:p>
            <a:pPr algn="ctr"/>
            <a:r>
              <a:rPr lang="en-IN" b="1" dirty="0"/>
              <a:t>Conclusion</a:t>
            </a:r>
            <a:endParaRPr lang="en-IN" dirty="0"/>
          </a:p>
        </p:txBody>
      </p:sp>
      <p:sp>
        <p:nvSpPr>
          <p:cNvPr id="3" name="Content Placeholder 2">
            <a:extLst>
              <a:ext uri="{FF2B5EF4-FFF2-40B4-BE49-F238E27FC236}">
                <a16:creationId xmlns:a16="http://schemas.microsoft.com/office/drawing/2014/main" id="{1CED4375-62AB-5CA3-483D-E99EC242CE8E}"/>
              </a:ext>
            </a:extLst>
          </p:cNvPr>
          <p:cNvSpPr>
            <a:spLocks noGrp="1"/>
          </p:cNvSpPr>
          <p:nvPr>
            <p:ph idx="1"/>
          </p:nvPr>
        </p:nvSpPr>
        <p:spPr>
          <a:xfrm>
            <a:off x="838200" y="2012906"/>
            <a:ext cx="10515600" cy="4602685"/>
          </a:xfrm>
        </p:spPr>
        <p:txBody>
          <a:bodyPr>
            <a:normAutofit/>
          </a:bodyPr>
          <a:lstStyle/>
          <a:p>
            <a:pPr marL="0" indent="0">
              <a:buNone/>
            </a:pPr>
            <a:r>
              <a:rPr lang="en-US" dirty="0"/>
              <a:t>	This Power BI marketing analytics dashboard demonstrates how data visualization and interactive analytics can transform raw ad performance data into actionable business intelligence. By combining TOFU and BOFU metrics with demographic and geographic segmentation, the dashboard enables both high‑level strategic decisions (which campaigns to fund) and tactical optimizations (which audiences to target, which creatives to test).</a:t>
            </a:r>
          </a:p>
          <a:p>
            <a:pPr marL="0" indent="0">
              <a:buNone/>
            </a:pPr>
            <a:r>
              <a:rPr lang="en-US" dirty="0"/>
              <a:t>	The insights derived—particularly the dominance of the 20–30 age group, the strong performance of Tier‑1 cities, and clear efficiency differences between campaigns—provide a solid foundation for improving marketing ROI. When extended with revenue data and predictive analytics, this framework becomes a complete full‑funnel marketing analytics system capable of guiding both budget allocation and creative strategy, while also showcasing proficiency in data visualization, DAX development, multi‑layered dashboard design, and translating business questions into clear visual narratives that are highly valuable in modern marketing analytics roles.</a:t>
            </a:r>
          </a:p>
        </p:txBody>
      </p:sp>
    </p:spTree>
    <p:extLst>
      <p:ext uri="{BB962C8B-B14F-4D97-AF65-F5344CB8AC3E}">
        <p14:creationId xmlns:p14="http://schemas.microsoft.com/office/powerpoint/2010/main" val="289553076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anded">
  <a:themeElements>
    <a:clrScheme name="Banded">
      <a:dk1>
        <a:srgbClr val="2C2C2C"/>
      </a:dk1>
      <a:lt1>
        <a:srgbClr val="FFFFFF"/>
      </a:lt1>
      <a:dk2>
        <a:srgbClr val="099BDD"/>
      </a:dk2>
      <a:lt2>
        <a:srgbClr val="F2F2F2"/>
      </a:lt2>
      <a:accent1>
        <a:srgbClr val="FFC000"/>
      </a:accent1>
      <a:accent2>
        <a:srgbClr val="A5D028"/>
      </a:accent2>
      <a:accent3>
        <a:srgbClr val="08CC78"/>
      </a:accent3>
      <a:accent4>
        <a:srgbClr val="F24099"/>
      </a:accent4>
      <a:accent5>
        <a:srgbClr val="828288"/>
      </a:accent5>
      <a:accent6>
        <a:srgbClr val="F56617"/>
      </a:accent6>
      <a:hlink>
        <a:srgbClr val="005DBA"/>
      </a:hlink>
      <a:folHlink>
        <a:srgbClr val="6C606A"/>
      </a:folHlink>
    </a:clrScheme>
    <a:fontScheme name="Banded">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nded">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Banded" id="{98DFF888-2449-4D28-977C-6306C017633E}" vid="{9792607F-9579-4224-82FF-9C88C3E1E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TM03090430[[fn=Banded]]</Template>
  <TotalTime>145</TotalTime>
  <Words>2042</Words>
  <Application>Microsoft Office PowerPoint</Application>
  <PresentationFormat>Widescreen</PresentationFormat>
  <Paragraphs>123</Paragraphs>
  <Slides>17</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Calibri</vt:lpstr>
      <vt:lpstr>Corbel</vt:lpstr>
      <vt:lpstr>Wingdings</vt:lpstr>
      <vt:lpstr>Banded</vt:lpstr>
      <vt:lpstr>Marketing Analytics:  A Power BI Case Study</vt:lpstr>
      <vt:lpstr>Introduction: What is Marketing Analytics?</vt:lpstr>
      <vt:lpstr>How Modern Marketing Analytics Works</vt:lpstr>
      <vt:lpstr>Understanding the Full-Funnel Measurement Framework</vt:lpstr>
      <vt:lpstr>PowerPoint Presentation</vt:lpstr>
      <vt:lpstr>Dataset Overview</vt:lpstr>
      <vt:lpstr>PowerPoint Presentation</vt:lpstr>
      <vt:lpstr>Building the Power BI Marketing Dashboard</vt:lpstr>
      <vt:lpstr>PowerPoint Presentation</vt:lpstr>
      <vt:lpstr>PowerPoint Presentation</vt:lpstr>
      <vt:lpstr>Key Insights from the Dashboard</vt:lpstr>
      <vt:lpstr>PowerPoint Presentation</vt:lpstr>
      <vt:lpstr>Recommendations for Campaign Optimization</vt:lpstr>
      <vt:lpstr>PowerPoint Presentation</vt:lpstr>
      <vt:lpstr>Future Enhancements and Next Steps</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Keshwanth GP</dc:creator>
  <cp:lastModifiedBy>Keshwanth GP</cp:lastModifiedBy>
  <cp:revision>3</cp:revision>
  <dcterms:created xsi:type="dcterms:W3CDTF">2025-12-08T16:46:55Z</dcterms:created>
  <dcterms:modified xsi:type="dcterms:W3CDTF">2025-12-09T17:51:39Z</dcterms:modified>
</cp:coreProperties>
</file>